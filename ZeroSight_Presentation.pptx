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4952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9904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04888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19872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34856" y="0"/>
            <a:ext cx="0" cy="514350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>
              <a:alpha val="15000"/>
            </a:srgbClr>
          </a:solidFill>
          <a:ln w="1270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371600"/>
            <a:ext cx="640080" cy="640080"/>
          </a:xfrm>
          <a:prstGeom prst="hexagon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8FF"/>
                </a:solidFill>
              </a:rPr>
              <a:t>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128016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 for Zero-Day Protocol Exploits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395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Network Flow Fingerprinting and Explainable AI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80160" y="2880360"/>
            <a:ext cx="6583680" cy="22860"/>
          </a:xfrm>
          <a:prstGeom prst="rect">
            <a:avLst/>
          </a:prstGeom>
          <a:solidFill>
            <a:srgbClr val="112040"/>
          </a:solidFill>
          <a:ln w="12700">
            <a:solidFill>
              <a:srgbClr val="11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0175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Security for Networked Systems · Systems &amp; Protocol Security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3474720"/>
            <a:ext cx="1188720" cy="237744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474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3474720"/>
            <a:ext cx="1188720" cy="237744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3474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931920" y="3474720"/>
            <a:ext cx="1188720" cy="237744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3474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257800" y="3474720"/>
            <a:ext cx="1188720" cy="237744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474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· SHAP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0" y="3474720"/>
            <a:ext cx="1188720" cy="237744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474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909560" y="3474720"/>
            <a:ext cx="1188720" cy="237744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3474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PARSER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Term Project  ·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Signature-Based IDS Is Blind to Zero-Days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IDS tools require known attack patterns — making them structurally incapable of detecting novel exploits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023360" cy="3657600"/>
          </a:xfrm>
          <a:prstGeom prst="rect">
            <a:avLst/>
          </a:prstGeom>
          <a:solidFill>
            <a:srgbClr val="110510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SIGNATURE-BASED IDS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/ Suricata: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261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pre-written rules for every known attack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17904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739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1773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through undetected — no matching signature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29968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maintenance: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286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manual updates as attackers evolve TTPs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542032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980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7980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 no explanation of why traffic was flagged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054096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10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analysis: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packet-level, misses behavioral statistical patterns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023360" cy="3657600"/>
          </a:xfrm>
          <a:prstGeom prst="rect">
            <a:avLst/>
          </a:prstGeom>
          <a:solidFill>
            <a:srgbClr val="05150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868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ZEROSIGHT (BEHAVIORAL)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261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261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normal behavior — flags any deviation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517904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7739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capable: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1773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signatures needed — purely statistical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029968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286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trained: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286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flow features, 14 attack types, 9,991 samples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542032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798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SHAP-style XAI: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7980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exactly which features drove each alert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054096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3101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+ REST API: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captures, query via API, full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C18"/>
          </a:solidFill>
          <a:ln w="12700">
            <a:solidFill>
              <a:srgbClr val="050C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60FF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pipeline: Input → Feature Extraction → Dual-Model (IF + RF) → XAI Attribution → API + Dashboard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18288"/>
          </a:xfrm>
          <a:prstGeom prst="rect">
            <a:avLst/>
          </a:prstGeom>
          <a:solidFill>
            <a:srgbClr val="B060FF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502920" cy="548640"/>
          </a:xfrm>
          <a:prstGeom prst="rect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74980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1435608"/>
            <a:ext cx="502920" cy="548640"/>
          </a:xfrm>
          <a:prstGeom prst="rect">
            <a:avLst/>
          </a:prstGeom>
          <a:solidFill>
            <a:srgbClr val="00E676">
              <a:alpha val="12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143560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2304288"/>
            <a:ext cx="502920" cy="548640"/>
          </a:xfrm>
          <a:prstGeom prst="rect">
            <a:avLst/>
          </a:prstGeom>
          <a:solidFill>
            <a:srgbClr val="FFB830">
              <a:alpha val="12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230428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0" y="3401568"/>
            <a:ext cx="502920" cy="548640"/>
          </a:xfrm>
          <a:prstGeom prst="rect">
            <a:avLst/>
          </a:prstGeom>
          <a:solidFill>
            <a:srgbClr val="B060FF">
              <a:alpha val="12000"/>
            </a:srgbClr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340156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0" y="4224528"/>
            <a:ext cx="502920" cy="548640"/>
          </a:xfrm>
          <a:prstGeom prst="rect">
            <a:avLst/>
          </a:prstGeom>
          <a:solidFill>
            <a:srgbClr val="FF3A5C">
              <a:alpha val="12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22452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4360" y="768096"/>
            <a:ext cx="1600200" cy="493776"/>
          </a:xfrm>
          <a:prstGeom prst="rect">
            <a:avLst/>
          </a:prstGeom>
          <a:solidFill>
            <a:srgbClr val="02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768096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.pcap / .pcapng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768096"/>
            <a:ext cx="1600200" cy="493776"/>
          </a:xfrm>
          <a:prstGeom prst="rect">
            <a:avLst/>
          </a:prstGeom>
          <a:solidFill>
            <a:srgbClr val="02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768096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(31 features)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768096"/>
            <a:ext cx="1600200" cy="493776"/>
          </a:xfrm>
          <a:prstGeom prst="rect">
            <a:avLst/>
          </a:prstGeom>
          <a:solidFill>
            <a:srgbClr val="02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768096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/api/predict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768096"/>
            <a:ext cx="1600200" cy="493776"/>
          </a:xfrm>
          <a:prstGeom prst="rect">
            <a:avLst/>
          </a:prstGeom>
          <a:solidFill>
            <a:srgbClr val="02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768096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/api/batch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26680" y="768096"/>
            <a:ext cx="1600200" cy="493776"/>
          </a:xfrm>
          <a:prstGeom prst="rect">
            <a:avLst/>
          </a:prstGeom>
          <a:solidFill>
            <a:srgbClr val="02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768096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scenarios)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62272" y="1271016"/>
            <a:ext cx="91440" cy="1828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126187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676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1444752"/>
            <a:ext cx="8732520" cy="749808"/>
          </a:xfrm>
          <a:prstGeom prst="rect">
            <a:avLst/>
          </a:prstGeom>
          <a:solidFill>
            <a:srgbClr val="05150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1463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PREPROCESSING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1682496"/>
            <a:ext cx="1508760" cy="457200"/>
          </a:xfrm>
          <a:prstGeom prst="rect">
            <a:avLst/>
          </a:prstGeom>
          <a:solidFill>
            <a:srgbClr val="0710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168249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PCAP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(Eth/IP/TCP/UDP)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21992" y="17830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31720" y="1682496"/>
            <a:ext cx="1508760" cy="457200"/>
          </a:xfrm>
          <a:prstGeom prst="rect">
            <a:avLst/>
          </a:prstGeom>
          <a:solidFill>
            <a:srgbClr val="0710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31720" y="168249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5-Tuple Flow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(src/dst IP+port)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67912" y="17830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77640" y="1682496"/>
            <a:ext cx="1508760" cy="457200"/>
          </a:xfrm>
          <a:prstGeom prst="rect">
            <a:avLst/>
          </a:prstGeom>
          <a:solidFill>
            <a:srgbClr val="0710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168249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CICIDS2017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(volume, rate, IAT…)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13832" y="17830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23560" y="1682496"/>
            <a:ext cx="1508760" cy="457200"/>
          </a:xfrm>
          <a:prstGeom prst="rect">
            <a:avLst/>
          </a:prstGeom>
          <a:solidFill>
            <a:srgbClr val="0710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168249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μ=0, σ=1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59752" y="178308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69480" y="1682496"/>
            <a:ext cx="1508760" cy="457200"/>
          </a:xfrm>
          <a:prstGeom prst="rect">
            <a:avLst/>
          </a:prstGeom>
          <a:solidFill>
            <a:srgbClr val="0710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168249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/ Inf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0)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286000" y="22128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830"/>
                </a:solidFill>
              </a:rPr>
              <a:t>▼ to IF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760720" y="22128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830"/>
                </a:solidFill>
              </a:rPr>
              <a:t>▼ to RF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26080" y="2212848"/>
            <a:ext cx="3566160" cy="0"/>
          </a:xfrm>
          <a:prstGeom prst="line">
            <a:avLst/>
          </a:prstGeom>
          <a:noFill/>
          <a:ln w="12700">
            <a:solidFill>
              <a:srgbClr val="FFB83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94360" y="2377440"/>
            <a:ext cx="4251960" cy="914400"/>
          </a:xfrm>
          <a:prstGeom prst="rect">
            <a:avLst/>
          </a:prstGeom>
          <a:solidFill>
            <a:srgbClr val="100A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24048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(Unsupervised)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7240" y="2651760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n_estimators = 200 trees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77240" y="2775204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max_samples = auto (256/tree)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7240" y="2898648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contamination = attack_ratio (dynamic)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77240" y="3022092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Output: anomaly score → normalize → [0,100]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7240" y="3145536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Score formula: s = 2^(−E[h(x)] / c(n))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074920" y="2377440"/>
            <a:ext cx="4251960" cy="914400"/>
          </a:xfrm>
          <a:prstGeom prst="rect">
            <a:avLst/>
          </a:prstGeom>
          <a:solidFill>
            <a:srgbClr val="00100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2080" y="24048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(Supervised)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212080" y="2651760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n_estimators = 150 trees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212080" y="2775204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max_depth = 20, min_samples_leaf = 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12080" y="2898648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14 classes: BENIGN + 13 attack types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12080" y="3022092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Output: attack label + class probabilities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212080" y="3145536"/>
            <a:ext cx="3931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Only activates for IF-flagged flows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114800" y="33101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60FF"/>
                </a:solidFill>
              </a:rPr>
              <a:t>▼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94360" y="3474720"/>
            <a:ext cx="8732520" cy="548640"/>
          </a:xfrm>
          <a:prstGeom prst="rect">
            <a:avLst/>
          </a:prstGeom>
          <a:solidFill>
            <a:srgbClr val="0A0515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" y="35021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ATTRIBUTION ENGINE  (SHAP-Style Feature Explanation)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31520" y="3721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contribution_i = |x_scaled,i| × importance_i   →   Top-10 ranked features returned per prediction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0" y="404164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3A5C"/>
                </a:solidFill>
              </a:rPr>
              <a:t>▼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94360" y="4224528"/>
            <a:ext cx="1353312" cy="493776"/>
          </a:xfrm>
          <a:prstGeom prst="rect">
            <a:avLst/>
          </a:prstGeom>
          <a:solidFill>
            <a:srgbClr val="020510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4224528"/>
            <a:ext cx="1353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Score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057400" y="4224528"/>
            <a:ext cx="1353312" cy="493776"/>
          </a:xfrm>
          <a:prstGeom prst="rect">
            <a:avLst/>
          </a:prstGeom>
          <a:solidFill>
            <a:srgbClr val="020510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57400" y="4224528"/>
            <a:ext cx="1353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CRITICAL…CLEAN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520440" y="4224528"/>
            <a:ext cx="1353312" cy="493776"/>
          </a:xfrm>
          <a:prstGeom prst="rect">
            <a:avLst/>
          </a:prstGeom>
          <a:solidFill>
            <a:srgbClr val="0205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20440" y="4224528"/>
            <a:ext cx="1353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Label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Classifier)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983480" y="4224528"/>
            <a:ext cx="1353312" cy="493776"/>
          </a:xfrm>
          <a:prstGeom prst="rect">
            <a:avLst/>
          </a:prstGeom>
          <a:solidFill>
            <a:srgbClr val="020510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83480" y="4224528"/>
            <a:ext cx="1353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(Top-10)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446520" y="4224528"/>
            <a:ext cx="1353312" cy="493776"/>
          </a:xfrm>
          <a:prstGeom prst="rect">
            <a:avLst/>
          </a:prstGeom>
          <a:solidFill>
            <a:srgbClr val="02051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46520" y="4224528"/>
            <a:ext cx="1353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909560" y="4224528"/>
            <a:ext cx="1353312" cy="493776"/>
          </a:xfrm>
          <a:prstGeom prst="rect">
            <a:avLst/>
          </a:prstGeom>
          <a:solidFill>
            <a:srgbClr val="02051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09560" y="4224528"/>
            <a:ext cx="1353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 WebUI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583680" y="4572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76.9% acc · 71.5% F1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583680" y="4773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99.8% acc · 99.75% F1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CICIDS2017 + Feature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New Brunswick · CSE-CIC-IDS2017 · 5 days of labeled network traffic · 78 raw features → 31 selected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931920" cy="3749040"/>
          </a:xfrm>
          <a:prstGeom prst="rect">
            <a:avLst/>
          </a:prstGeom>
          <a:solidFill>
            <a:srgbClr val="040E0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207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554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(60%)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10512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samples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3,991 (40%)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157984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249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classes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505456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968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25968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(CICFlowMeter)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52928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443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2944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91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2918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7,493 (75%)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547872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39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36393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2,498 (25%)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895344"/>
            <a:ext cx="356616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867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68880" y="39867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(by label)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822960"/>
            <a:ext cx="4389120" cy="3749040"/>
          </a:xfrm>
          <a:prstGeom prst="rect">
            <a:avLst/>
          </a:prstGeom>
          <a:solidFill>
            <a:srgbClr val="040E08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868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DETECTED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Hulk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23760" y="1261872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12070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1463040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15544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23760" y="1609344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15544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1810512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1901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23760" y="1956816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9640" y="19019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2157984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249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(C2)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23760" y="2304288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49640" y="22494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2505456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25968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GoldenEye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23760" y="2651760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49640" y="25968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2852928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2944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FTP-Patator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223760" y="2999232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49640" y="29443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3200400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17720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SSH-Patator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23760" y="3346704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49640" y="32918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17720" y="3547872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7720" y="3639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slowloris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223760" y="3694176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49640" y="36393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17720" y="3895344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17720" y="3986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Heartbleed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223760" y="4041648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39867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17720" y="4242816"/>
            <a:ext cx="411480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17720" y="4334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XSS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223760" y="4389120"/>
            <a:ext cx="1122883" cy="146304"/>
          </a:xfrm>
          <a:prstGeom prst="rect">
            <a:avLst/>
          </a:prstGeom>
          <a:solidFill>
            <a:srgbClr val="FFB830">
              <a:alpha val="6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49640" y="43342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617720" y="45720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more types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Isolation Forest — Unsupervised Anomaly Scoring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capable · No attack labels required at detection time · 200 trees · Dynamic contamination parameter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5303520" cy="2194560"/>
          </a:xfrm>
          <a:prstGeom prst="rect">
            <a:avLst/>
          </a:prstGeom>
          <a:solidFill>
            <a:srgbClr val="0E09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ISOLATION FOREST WORKS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Random feature selection → random split value within feature range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47218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Repeat recursively → binary isolation tree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Normal points: deeply nested (long path length to isolate)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Anomalous points: easily isolated (short path length)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Score = 2^(−E[h(x)] / c(n))  →  high score = anomaly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6791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Normalize to [0,100]: score = clip((raw−0.25)/0.45×100)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822960"/>
            <a:ext cx="3017520" cy="2194560"/>
          </a:xfrm>
          <a:prstGeom prst="rect">
            <a:avLst/>
          </a:prstGeom>
          <a:solidFill>
            <a:srgbClr val="0E090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868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CONCEPT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14300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371600"/>
            <a:ext cx="45720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37160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37160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600200"/>
            <a:ext cx="22860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1581912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7099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(deep, long path)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863840" y="1143000"/>
            <a:ext cx="0" cy="22860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90688" y="1371600"/>
            <a:ext cx="128016" cy="128016"/>
          </a:xfrm>
          <a:prstGeom prst="ellipse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527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(shallow, short path)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3127248"/>
            <a:ext cx="5303520" cy="1463040"/>
          </a:xfrm>
          <a:prstGeom prst="rect">
            <a:avLst/>
          </a:prstGeom>
          <a:solidFill>
            <a:srgbClr val="0E090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729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IF CONFIGURATION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45643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57400" y="34564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4564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in ensemble — higher = more stable score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37307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max_samples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57400" y="37307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auto (256)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373075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subsample per tree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400507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contamination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40050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dynamic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00507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= observed attack ratio (≈0.40), clamped [0.01,0.45]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42793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57400" y="42793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0" y="427939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06440" y="3127248"/>
            <a:ext cx="3017520" cy="1463040"/>
          </a:xfrm>
          <a:prstGeom prst="rect">
            <a:avLst/>
          </a:prstGeom>
          <a:solidFill>
            <a:srgbClr val="0E090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1729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0" y="34564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06640" y="34564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76.94%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43600" y="373075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06640" y="37307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70.69%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0" y="40050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406640" y="40050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72.24%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43600" y="42793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0" y="42793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71.46%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B060FF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SHAP-Style Explainable AI (XAI)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 feature attribution — answers WHY a flow was flagged, not just THAT it was flagged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503920" cy="640080"/>
          </a:xfrm>
          <a:prstGeom prst="rect">
            <a:avLst/>
          </a:prstGeom>
          <a:solidFill>
            <a:srgbClr val="0A0515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23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99669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9235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|x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99232" y="9966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scaled,i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94760" y="923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×  importance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4768" y="99669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9692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ranked top-10 features returned per prediction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572768"/>
            <a:ext cx="5029200" cy="3063240"/>
          </a:xfrm>
          <a:prstGeom prst="rect">
            <a:avLst/>
          </a:prstGeom>
          <a:solidFill>
            <a:srgbClr val="0A0515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61848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Hulk Attack — Top Feature Contributors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Packets/s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23160" y="1965960"/>
            <a:ext cx="2286000" cy="164592"/>
          </a:xfrm>
          <a:prstGeom prst="rect">
            <a:avLst/>
          </a:prstGeom>
          <a:solidFill>
            <a:srgbClr val="FF3A5C">
              <a:alpha val="70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92024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2448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Packets/s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2290572"/>
            <a:ext cx="1403035" cy="164592"/>
          </a:xfrm>
          <a:prstGeom prst="rect">
            <a:avLst/>
          </a:prstGeom>
          <a:solidFill>
            <a:srgbClr val="FF3A5C">
              <a:alpha val="70000"/>
            </a:srgbClr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448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1.821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569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23160" y="2615184"/>
            <a:ext cx="1141844" cy="164592"/>
          </a:xfrm>
          <a:prstGeom prst="rect">
            <a:avLst/>
          </a:prstGeom>
          <a:solidFill>
            <a:srgbClr val="FFB830">
              <a:alpha val="7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5694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28940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Fwd Packets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23160" y="2939796"/>
            <a:ext cx="850605" cy="164592"/>
          </a:xfrm>
          <a:prstGeom prst="rect">
            <a:avLst/>
          </a:prstGeom>
          <a:solidFill>
            <a:srgbClr val="FFB830">
              <a:alpha val="7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9407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3218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23160" y="3264408"/>
            <a:ext cx="486940" cy="164592"/>
          </a:xfrm>
          <a:prstGeom prst="rect">
            <a:avLst/>
          </a:prstGeom>
          <a:solidFill>
            <a:srgbClr val="B060FF">
              <a:alpha val="70000"/>
            </a:srgbClr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2186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35433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Mean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23160" y="3589020"/>
            <a:ext cx="240388" cy="164592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5433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3867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IAT Mean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23160" y="3913632"/>
            <a:ext cx="152554" cy="164592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679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41925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Count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423160" y="4238244"/>
            <a:ext cx="109407" cy="164592"/>
          </a:xfrm>
          <a:prstGeom prst="rect">
            <a:avLst/>
          </a:prstGeom>
          <a:solidFill>
            <a:srgbClr val="90A4AE">
              <a:alpha val="70000"/>
            </a:srgbClr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925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77840" y="1572768"/>
            <a:ext cx="3291840" cy="3063240"/>
          </a:xfrm>
          <a:prstGeom prst="rect">
            <a:avLst/>
          </a:prstGeom>
          <a:solidFill>
            <a:srgbClr val="0A051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16184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XAI MATTERS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15000" y="1938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Trust: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40880" y="1938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"why" — not just the alert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15000" y="2194560"/>
            <a:ext cx="301752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23774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23774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analysts where to look first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15000" y="2633472"/>
            <a:ext cx="301752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8163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40880" y="28163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 for compliance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15000" y="3072384"/>
            <a:ext cx="301752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25526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Profiling: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40880" y="32552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features fingerprint attack type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15000" y="3511296"/>
            <a:ext cx="301752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369417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Debug: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40880" y="36941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training artifacts / data leakage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15000" y="3950208"/>
            <a:ext cx="3017520" cy="0"/>
          </a:xfrm>
          <a:prstGeom prst="line">
            <a:avLst/>
          </a:prstGeom>
          <a:noFill/>
          <a:ln w="12700">
            <a:solidFill>
              <a:srgbClr val="1120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15000" y="4133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Context: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40880" y="41330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makes a novel flow unusual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PCAP Parser — Client-Side Flow Extraction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.pcap / .pcapng binaries entirely in the browser — no server upload · Ethernet/IPv4/TCP/UDP header traversal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1783080" cy="2468880"/>
          </a:xfrm>
          <a:prstGeom prst="rect">
            <a:avLst/>
          </a:prstGeom>
          <a:solidFill>
            <a:srgbClr val="03101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Global Header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536192"/>
            <a:ext cx="16276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bytes · Magic 0xA1B2C3D4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0xA1B23C4D nanosec)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byte order (LE/BE)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link layer 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30552" y="1828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822960"/>
            <a:ext cx="1783080" cy="2468880"/>
          </a:xfrm>
          <a:prstGeom prst="rect">
            <a:avLst/>
          </a:prstGeom>
          <a:solidFill>
            <a:srgbClr val="03101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84124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11887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Records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04872" y="1536192"/>
            <a:ext cx="16276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record header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timestamp, cap_len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all packets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5,000)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42232" y="1828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822960"/>
            <a:ext cx="1783080" cy="2468880"/>
          </a:xfrm>
          <a:prstGeom prst="rect">
            <a:avLst/>
          </a:prstGeom>
          <a:solidFill>
            <a:srgbClr val="03101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84124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89120" y="11887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Traversal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16552" y="1536192"/>
            <a:ext cx="16276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(14B)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IPv4 (IHL×4)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TCP/UDP port+flags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SYN ACK FIN RST PSH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53912" y="1828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676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822960"/>
            <a:ext cx="1783080" cy="2468880"/>
          </a:xfrm>
          <a:prstGeom prst="rect">
            <a:avLst/>
          </a:prstGeom>
          <a:solidFill>
            <a:srgbClr val="031018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84124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11887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5-Tuple Aggregation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28232" y="1536192"/>
            <a:ext cx="16276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src_ip:sport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→dst_ip:dport/proto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bytes, pkts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sizes, duration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65592" y="1828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830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822960"/>
            <a:ext cx="1783080" cy="2468880"/>
          </a:xfrm>
          <a:prstGeom prst="rect">
            <a:avLst/>
          </a:prstGeom>
          <a:solidFill>
            <a:srgbClr val="031018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84124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0" y="11887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 Feature Map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39912" y="1536192"/>
            <a:ext cx="162763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CICIDS2017 features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flow_bytes/s, pkts/s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 mean/std/max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counts, pkt_len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429000"/>
            <a:ext cx="4663440" cy="1234440"/>
          </a:xfrm>
          <a:prstGeom prst="rect">
            <a:avLst/>
          </a:prstGeom>
          <a:solidFill>
            <a:srgbClr val="03101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7472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7673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(classic)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37673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0xA1B2C3D4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37673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default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0416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.pcapng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8308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Header Block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9184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next gen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43159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83080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0xA1B2C3D4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91840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/ aircrack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66360" y="3429000"/>
            <a:ext cx="3657600" cy="1234440"/>
          </a:xfrm>
          <a:prstGeom prst="rect">
            <a:avLst/>
          </a:prstGeom>
          <a:solidFill>
            <a:srgbClr val="03101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34747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03520" y="37673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file upload to server → privacy preserved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40416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offline (no backend dependency)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43159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captures up to 5,000 packets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45902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 fallback to synthetic flows on invalid format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7,493 flows · Tested on 2,498 held-out flows · 25/25 unit tests passing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1627632" cy="1280160"/>
          </a:xfrm>
          <a:prstGeom prst="rect">
            <a:avLst/>
          </a:prstGeom>
          <a:solidFill>
            <a:srgbClr val="030D05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77824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· Zero-day capable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84832" y="822960"/>
            <a:ext cx="1627632" cy="1280160"/>
          </a:xfrm>
          <a:prstGeom prst="rect">
            <a:avLst/>
          </a:prstGeom>
          <a:solidFill>
            <a:srgbClr val="030D05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877824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84832" y="138988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F1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164592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70.7% · Recall 72.2%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9624" y="822960"/>
            <a:ext cx="1627632" cy="1280160"/>
          </a:xfrm>
          <a:prstGeom prst="rect">
            <a:avLst/>
          </a:prstGeom>
          <a:solidFill>
            <a:srgbClr val="030D0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877824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9624" y="138988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9624" y="164592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14 attack classes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14416" y="822960"/>
            <a:ext cx="1627632" cy="1280160"/>
          </a:xfrm>
          <a:prstGeom prst="rect">
            <a:avLst/>
          </a:prstGeom>
          <a:solidFill>
            <a:srgbClr val="030D0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877824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14416" y="138988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F1 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14416" y="164592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99.9% · Recall 99.6%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79208" y="822960"/>
            <a:ext cx="1627632" cy="1280160"/>
          </a:xfrm>
          <a:prstGeom prst="rect">
            <a:avLst/>
          </a:prstGeom>
          <a:solidFill>
            <a:srgbClr val="030D0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877824"/>
            <a:ext cx="16276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79208" y="138988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79208" y="164592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unit tests passing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4846320" cy="2423160"/>
          </a:xfrm>
          <a:prstGeom prst="rect">
            <a:avLst/>
          </a:prstGeom>
          <a:solidFill>
            <a:srgbClr val="030D0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8600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 (Random Forest)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5968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Fwd Packets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77440" y="2633472"/>
            <a:ext cx="2212848" cy="164592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59689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29352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Pkt Len Mean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2971800"/>
            <a:ext cx="1453896" cy="164592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93522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735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0" y="3310128"/>
            <a:ext cx="932688" cy="164592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2735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611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Packets/s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77440" y="3648456"/>
            <a:ext cx="813816" cy="164592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61188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9502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77440" y="3986784"/>
            <a:ext cx="676656" cy="164592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9502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288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Len Fwd Pkts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77440" y="4325112"/>
            <a:ext cx="566928" cy="164592"/>
          </a:xfrm>
          <a:prstGeom prst="rect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428853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49240" y="2240280"/>
            <a:ext cx="3474720" cy="2423160"/>
          </a:xfrm>
          <a:prstGeom prst="rect">
            <a:avLst/>
          </a:prstGeom>
          <a:solidFill>
            <a:srgbClr val="030D05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22860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DETECTION (IF Layer)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26151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Hulk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78040" y="261518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HIGH–CRITICAL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0" y="29443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78040" y="29443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0" y="3273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78040" y="32735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0" y="36027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Bot/C2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78040" y="36027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0" y="39319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78040" y="3931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0" y="42611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Heartbleed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78040" y="42611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4690872"/>
            <a:ext cx="8503920" cy="329184"/>
          </a:xfrm>
          <a:prstGeom prst="rect">
            <a:avLst/>
          </a:prstGeom>
          <a:solidFill>
            <a:srgbClr val="02081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 25/25 tests pass — covering model load, IF detection, XAI attribution, batch inference, edge cases (all-zero, missing keys, extremes), empty batch, IF acc ≥70%, RF acc ≥80%, feature importance sum ≈1.0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FF3A5C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— Deployment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FastAPI backend + dashboard hosted on free-tier platforms · Dashboard also works standalone on GitHub Pages / Netlify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51760" cy="2743200"/>
          </a:xfrm>
          <a:prstGeom prst="rect">
            <a:avLst/>
          </a:prstGeom>
          <a:solidFill>
            <a:srgbClr val="08080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778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234440"/>
            <a:ext cx="914400" cy="201168"/>
          </a:xfrm>
          <a:prstGeom prst="rect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234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50876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750 hrs/month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Auto-sleep after 15min inactivity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git push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+ FastAPI support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" y="2377440"/>
            <a:ext cx="2432304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395728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pip install -r requirements.txt &amp;&amp; python model.py --train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 uvicorn server:app --host 0.0.0.0 --port $PORT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46120" y="822960"/>
            <a:ext cx="2651760" cy="2743200"/>
          </a:xfrm>
          <a:prstGeom prst="rect">
            <a:avLst/>
          </a:prstGeom>
          <a:solidFill>
            <a:srgbClr val="08080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8778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914400" cy="201168"/>
          </a:xfrm>
          <a:prstGeom prst="rect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234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55848" y="150876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free credit/month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GitHub connect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disk for model 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cold starts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55848" y="2377440"/>
            <a:ext cx="2432304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395728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pip install -r requirements.txt &amp;&amp; python model.py --train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 uvicorn server:app --host 0.0.0.0 --port $PORT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72200" y="822960"/>
            <a:ext cx="2651760" cy="2743200"/>
          </a:xfrm>
          <a:prstGeom prst="rect">
            <a:avLst/>
          </a:prstGeom>
          <a:solidFill>
            <a:srgbClr val="080808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8778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40880" y="1234440"/>
            <a:ext cx="914400" cy="201168"/>
          </a:xfrm>
          <a:prstGeom prst="rect">
            <a:avLst/>
          </a:prstGeom>
          <a:solidFill>
            <a:srgbClr val="B060FF">
              <a:alpha val="20000"/>
            </a:srgbClr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234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FOCUSED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81928" y="150876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CPU free tier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SDK supported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2GB RAM per 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ML-community friendly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81928" y="2377440"/>
            <a:ext cx="2432304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395728"/>
            <a:ext cx="23225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06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SDK: FastAPI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6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app.py importing server:app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6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 auto-detects port 7860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8503920" cy="960120"/>
          </a:xfrm>
          <a:prstGeom prst="rect">
            <a:avLst/>
          </a:prstGeom>
          <a:solidFill>
            <a:srgbClr val="050505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124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DASHBOARD-ONLY (Static Hosting — Offline Mode)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0050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40050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github.com/user/repo → Settings → Pages → Deploy from main branch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2245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Drop: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2245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app.netlify.com/drop → drag dashboard_full.html → instant live URL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4439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444398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vercel.com → Import Git Repo → static HTML auto-detected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Form — What to Enter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answers for INFO-I520 project registration / submission 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778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09728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ZeroSight: Behavioral Anomaly Detection for Zero-Day Protocol Exploits Using Network Flow Fingerprinting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92040" y="82296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8778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01768" y="109728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Application + Research Report + Presentation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9293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Topic Area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14884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/ Intrusion Detection Systems / Anomaly Detection / Explainable 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187452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19293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01768" y="214884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scikit-learn · FastAPI · Isolation Forest · Random Forest · CICIDS2017 · HTML/JS · PCAP Parser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9809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" y="320040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(CSE-CIC-IDS2017) — University of New Brunswick · 9,991 flows · 14 attack types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92040" y="292608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9809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01768" y="320040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Software/App  ✓ Dataset + Analysis  ✓ Demo/Presentation  ✓ Web App Link  ✓ GitHub Repo  ✓ PDF Report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4032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" y="425196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web app demonstrating real-time network flow anomaly detection with XAI, PCAP upload, and REST API.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3977640"/>
            <a:ext cx="4251960" cy="960120"/>
          </a:xfrm>
          <a:prstGeom prst="rect">
            <a:avLst/>
          </a:prstGeom>
          <a:solidFill>
            <a:srgbClr val="080808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4032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01768" y="425196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real-time protocol anomaly scoring · SHAP XAI · binary PCAP upload · video walkthrough · 25-test suite · FastAPI backend · free hosted on Render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1F"/>
          </a:solidFill>
          <a:ln w="12700">
            <a:solidFill>
              <a:srgbClr val="071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2286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+ Live Demo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is live — scan flows, upload PCAP, see XAI explanations in real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743200" cy="1600200"/>
          </a:xfrm>
          <a:prstGeom prst="rect">
            <a:avLst/>
          </a:prstGeom>
          <a:solidFill>
            <a:srgbClr val="030D08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058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Zero-Day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335024"/>
            <a:ext cx="2523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trained on CICIDS2017 — flags behavioral anomalies without signatures. 76.9% accuracy, 71.5% F1.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743200" cy="1600200"/>
          </a:xfrm>
          <a:prstGeom prst="rect">
            <a:avLst/>
          </a:prstGeom>
          <a:solidFill>
            <a:srgbClr val="030D08"/>
          </a:solidFill>
          <a:ln w="12700">
            <a:solidFill>
              <a:srgbClr val="B06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0058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Explainable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335024"/>
            <a:ext cx="2523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SHAP-style attribution per prediction. Top-10 features ranked by contribution — tells analysts exactly why.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914400"/>
            <a:ext cx="2743200" cy="1600200"/>
          </a:xfrm>
          <a:prstGeom prst="rect">
            <a:avLst/>
          </a:prstGeom>
          <a:solidFill>
            <a:srgbClr val="030D0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0058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PCAP Binary Parser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1335024"/>
            <a:ext cx="2523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Ethernet/IP/TCP/UDP parser. Upload .pcap → flow extraction → IF analysis in seconds.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2743200" cy="1600200"/>
          </a:xfrm>
          <a:prstGeom prst="rect">
            <a:avLst/>
          </a:prstGeom>
          <a:solidFill>
            <a:srgbClr val="030D08"/>
          </a:solidFill>
          <a:ln w="12700">
            <a:solidFill>
              <a:srgbClr val="FF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889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FastAPI 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118104"/>
            <a:ext cx="2523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API: /predict, /batch, /status, /sample. Pydantic-validated. Serves dashboard at /.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697480"/>
            <a:ext cx="2743200" cy="1600200"/>
          </a:xfrm>
          <a:prstGeom prst="rect">
            <a:avLst/>
          </a:prstGeom>
          <a:solidFill>
            <a:srgbClr val="030D0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7889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99.8% RF 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3118104"/>
            <a:ext cx="2523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14-class Random Forest for attack labeling. DoS, DDoS, PortScan, Bot, Heartbleed + 9 more.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2697480"/>
            <a:ext cx="2743200" cy="1600200"/>
          </a:xfrm>
          <a:prstGeom prst="rect">
            <a:avLst/>
          </a:prstGeom>
          <a:solidFill>
            <a:srgbClr val="030D0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27889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25/25 Tests Pass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73368" y="3118104"/>
            <a:ext cx="2523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unittest suite covering model, XAI, batch, edge cases, and performance thresholds.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Live: render.com/zerosight  ·  💻 GitHub: github.com/yourusername/zerosight  ·  📹 Demo Video: [link]  ·  INFO-I520 ·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ZeroSight — Behavioral Anomaly Detection for Zero-Day Protocol Exploits</dc:title>
  <dc:subject>PptxGenJS Presentation</dc:subject>
  <dc:creator>INFO-I520</dc:creator>
  <cp:lastModifiedBy>INFO-I520</cp:lastModifiedBy>
  <cp:revision>1</cp:revision>
  <dcterms:created xsi:type="dcterms:W3CDTF">2026-03-08T22:10:44Z</dcterms:created>
  <dcterms:modified xsi:type="dcterms:W3CDTF">2026-03-08T22:10:44Z</dcterms:modified>
</cp:coreProperties>
</file>