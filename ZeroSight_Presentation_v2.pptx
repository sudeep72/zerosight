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AF4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AF4FF"/>
                </a:solidFill>
                <a:latin typeface="Arial"/>
              </a:rPr>
              <a:t>Dataset Composition (19,950 flows)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Flows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D9A0"/>
              </a:solidFill>
              <a:effectLst/>
            </c:spPr>
          </c:dPt>
          <c:dPt>
            <c:idx val="1"/>
            <c:bubble3D val="0"/>
            <c:spPr>
              <a:solidFill>
                <a:srgbClr val="00E6A0"/>
              </a:solidFill>
              <a:effectLst/>
            </c:spPr>
          </c:dPt>
          <c:dPt>
            <c:idx val="2"/>
            <c:bubble3D val="0"/>
            <c:spPr>
              <a:solidFill>
                <a:srgbClr val="05A880"/>
              </a:solidFill>
              <a:effectLst/>
            </c:spPr>
          </c:dPt>
          <c:dPt>
            <c:idx val="3"/>
            <c:bubble3D val="0"/>
            <c:spPr>
              <a:solidFill>
                <a:srgbClr val="038060"/>
              </a:solidFill>
              <a:effectLst/>
            </c:spPr>
          </c:dPt>
          <c:dPt>
            <c:idx val="4"/>
            <c:bubble3D val="0"/>
            <c:spPr>
              <a:solidFill>
                <a:srgbClr val="FF3E6C"/>
              </a:solidFill>
              <a:effectLst/>
            </c:spPr>
          </c:dPt>
          <c:dPt>
            <c:idx val="5"/>
            <c:bubble3D val="0"/>
            <c:spPr>
              <a:solidFill>
                <a:srgbClr val="FF8B3D"/>
              </a:solidFill>
              <a:effectLst/>
            </c:spPr>
          </c:dPt>
          <c:dPt>
            <c:idx val="6"/>
            <c:bubble3D val="0"/>
            <c:spPr>
              <a:solidFill>
                <a:srgbClr val="A67CFF"/>
              </a:solidFill>
              <a:effectLst/>
            </c:spPr>
          </c:dPt>
          <c:dPt>
            <c:idx val="7"/>
            <c:bubble3D val="0"/>
            <c:spPr>
              <a:solidFill>
                <a:srgbClr val="00C4FF"/>
              </a:solidFill>
              <a:effectLst/>
            </c:spPr>
          </c:dPt>
          <c:dPt>
            <c:idx val="8"/>
            <c:bubble3D val="0"/>
            <c:spPr>
              <a:solidFill>
                <a:srgbClr val="FFD166"/>
              </a:solidFill>
              <a:effectLst/>
            </c:spPr>
          </c:dPt>
          <c:dPt>
            <c:idx val="9"/>
            <c:bubble3D val="0"/>
            <c:spPr>
              <a:solidFill>
                <a:srgbClr val="FF6B3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EAF4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BENIGN (Web)</c:v>
                </c:pt>
                <c:pt idx="1">
                  <c:v>BENIGN (Bulk)</c:v>
                </c:pt>
                <c:pt idx="2">
                  <c:v>BENIGN (IAT)</c:v>
                </c:pt>
                <c:pt idx="3">
                  <c:v>BENIGN (DNS)</c:v>
                </c:pt>
                <c:pt idx="4">
                  <c:v>DoS Variants (×4)</c:v>
                </c:pt>
                <c:pt idx="5">
                  <c:v>Web Attacks (×3)</c:v>
                </c:pt>
                <c:pt idx="6">
                  <c:v>Patator/Brute (×3)</c:v>
                </c:pt>
                <c:pt idx="7">
                  <c:v>DDoS/ICMP</c:v>
                </c:pt>
                <c:pt idx="8">
                  <c:v>Bot/Infiltration</c:v>
                </c:pt>
                <c:pt idx="9">
                  <c:v>Heartbleed/PortScan/DNS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4875</c:v>
                </c:pt>
                <c:pt idx="1">
                  <c:v>1219</c:v>
                </c:pt>
                <c:pt idx="2">
                  <c:v>2437</c:v>
                </c:pt>
                <c:pt idx="3">
                  <c:v>1219</c:v>
                </c:pt>
                <c:pt idx="4">
                  <c:v>2400</c:v>
                </c:pt>
                <c:pt idx="5">
                  <c:v>1800</c:v>
                </c:pt>
                <c:pt idx="6">
                  <c:v>1800</c:v>
                </c:pt>
                <c:pt idx="7">
                  <c:v>1200</c:v>
                </c:pt>
                <c:pt idx="8">
                  <c:v>1200</c:v>
                </c:pt>
                <c:pt idx="9">
                  <c:v>1800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solidFill>
                <a:srgbClr val="8BA8C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22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AF4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AF4FF"/>
                </a:solidFill>
                <a:latin typeface="Arial"/>
              </a:rPr>
              <a:t>Feature Attribution — HTTPS Burst Flow (Score: 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Contribution</c:v>
                </c:pt>
              </c:strCache>
            </c:strRef>
          </c:tx>
          <c:spPr>
            <a:solidFill>
              <a:srgbClr val="FF3E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A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E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B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67C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D9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C4F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E6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DD9F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0C4F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Bwd Packets/s</c:v>
                  </c:pt>
                  <c:pt idx="1">
                    <c:v>Total Bwd Packets</c:v>
                  </c:pt>
                  <c:pt idx="2">
                    <c:v>SYN Flag Count</c:v>
                  </c:pt>
                  <c:pt idx="3">
                    <c:v>Pkt Length Std</c:v>
                  </c:pt>
                  <c:pt idx="4">
                    <c:v>Pkt Length Mean</c:v>
                  </c:pt>
                  <c:pt idx="5">
                    <c:v>Fwd Pkt Length Mean</c:v>
                  </c:pt>
                  <c:pt idx="6">
                    <c:v>FIN Flag Count</c:v>
                  </c:pt>
                  <c:pt idx="7">
                    <c:v>Flow IAT Std</c:v>
                  </c:pt>
                  <c:pt idx="8">
                    <c:v>Init Win Bwd</c:v>
                  </c:pt>
                  <c:pt idx="9">
                    <c:v>Flow Packets/s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0.3312</c:v>
                </c:pt>
                <c:pt idx="1">
                  <c:v>0.2461</c:v>
                </c:pt>
                <c:pt idx="2">
                  <c:v>0.123</c:v>
                </c:pt>
                <c:pt idx="3">
                  <c:v>0.11</c:v>
                </c:pt>
                <c:pt idx="4">
                  <c:v>0.0533</c:v>
                </c:pt>
                <c:pt idx="5">
                  <c:v>0.0295</c:v>
                </c:pt>
                <c:pt idx="6">
                  <c:v>0.0417</c:v>
                </c:pt>
                <c:pt idx="7">
                  <c:v>0.0341</c:v>
                </c:pt>
                <c:pt idx="8">
                  <c:v>0.0319</c:v>
                </c:pt>
                <c:pt idx="9">
                  <c:v>0.0086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A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AF4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8"/>
          <c:min val="0"/>
        </c:scaling>
        <c:delete val="0"/>
        <c:axPos val="b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23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AF4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AF4FF"/>
                </a:solidFill>
                <a:latin typeface="Arial"/>
              </a:rPr>
              <a:t>IF vs RF — Metric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Isolation Forest</c:v>
                </c:pt>
              </c:strCache>
            </c:strRef>
          </c:tx>
          <c:spPr>
            <a:solidFill>
              <a:srgbClr val="FF3E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EA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89.6</c:v>
                </c:pt>
                <c:pt idx="1">
                  <c:v>89.4</c:v>
                </c:pt>
                <c:pt idx="2">
                  <c:v>90.3</c:v>
                </c:pt>
                <c:pt idx="3">
                  <c:v>89.9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FF8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EA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90.8</c:v>
                </c:pt>
                <c:pt idx="1">
                  <c:v>89.4</c:v>
                </c:pt>
                <c:pt idx="2">
                  <c:v>94.4</c:v>
                </c:pt>
                <c:pt idx="3">
                  <c:v>89.5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EA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AF4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7"/>
          <c:min val="85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AF4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F22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03136"/>
            <a:ext cx="12161520" cy="54864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8503920" cy="5943600"/>
          </a:xfrm>
          <a:prstGeom prst="rect">
            <a:avLst/>
          </a:prstGeom>
          <a:solidFill>
            <a:srgbClr val="0F2236">
              <a:alpha val="70000"/>
            </a:srgbClr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5943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300" kern="0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 for Zero-Day Protocol Exploits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Network Flow Fingerprinting with Explainable 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2560320" cy="27432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44368"/>
            <a:ext cx="2139696" cy="365760"/>
          </a:xfrm>
          <a:prstGeom prst="rect">
            <a:avLst/>
          </a:prstGeom>
          <a:solidFill>
            <a:srgbClr val="FF3E6C">
              <a:alpha val="22000"/>
            </a:srgbClr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44368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35808" y="2944368"/>
            <a:ext cx="1824228" cy="365760"/>
          </a:xfrm>
          <a:prstGeom prst="rect">
            <a:avLst/>
          </a:prstGeom>
          <a:solidFill>
            <a:srgbClr val="FF8B3D">
              <a:alpha val="22000"/>
            </a:srgbClr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2944368"/>
            <a:ext cx="1824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4628" y="2944368"/>
            <a:ext cx="1298448" cy="365760"/>
          </a:xfrm>
          <a:prstGeom prst="rect">
            <a:avLst/>
          </a:prstGeom>
          <a:solidFill>
            <a:srgbClr val="A67CFF">
              <a:alpha val="22000"/>
            </a:srgbClr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4628" y="2944368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XAI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87668" y="2944368"/>
            <a:ext cx="1508760" cy="365760"/>
          </a:xfrm>
          <a:prstGeom prst="rect">
            <a:avLst/>
          </a:prstGeom>
          <a:solidFill>
            <a:srgbClr val="00C4FF">
              <a:alpha val="22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7668" y="29443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CICIDS2017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61020" y="2944368"/>
            <a:ext cx="1193292" cy="365760"/>
          </a:xfrm>
          <a:prstGeom prst="rect">
            <a:avLst/>
          </a:prstGeom>
          <a:solidFill>
            <a:srgbClr val="00E6A0">
              <a:alpha val="22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1020" y="2944368"/>
            <a:ext cx="11932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93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Sudeep 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904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INFO-I520: Security for Networked Systems  ·  Luddy School of Informatics, Computing &amp;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Bloomington  ·  Spring 2026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81160" y="502920"/>
            <a:ext cx="2514600" cy="960120"/>
          </a:xfrm>
          <a:prstGeom prst="rect">
            <a:avLst/>
          </a:prstGeom>
          <a:solidFill>
            <a:srgbClr val="0F2236"/>
          </a:solidFill>
          <a:ln w="12700">
            <a:solidFill>
              <a:srgbClr val="05D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81160" y="557784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19,950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281160" y="1097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Flows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281160" y="1581912"/>
            <a:ext cx="2514600" cy="960120"/>
          </a:xfrm>
          <a:prstGeom prst="rect">
            <a:avLst/>
          </a:prstGeom>
          <a:solidFill>
            <a:srgbClr val="0F2236"/>
          </a:solidFill>
          <a:ln w="12700">
            <a:solidFill>
              <a:srgbClr val="05D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81160" y="1636776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281160" y="21762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 Features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81160" y="2660904"/>
            <a:ext cx="2514600" cy="960120"/>
          </a:xfrm>
          <a:prstGeom prst="rect">
            <a:avLst/>
          </a:prstGeom>
          <a:solidFill>
            <a:srgbClr val="0F2236"/>
          </a:solidFill>
          <a:ln w="12700">
            <a:solidFill>
              <a:srgbClr val="05D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81160" y="271576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281160" y="325526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281160" y="3739896"/>
            <a:ext cx="2514600" cy="960120"/>
          </a:xfrm>
          <a:prstGeom prst="rect">
            <a:avLst/>
          </a:prstGeom>
          <a:solidFill>
            <a:srgbClr val="0F2236"/>
          </a:solidFill>
          <a:ln w="12700">
            <a:solidFill>
              <a:srgbClr val="05D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281160" y="3794760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281160" y="433425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F1 Score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281160" y="4818888"/>
            <a:ext cx="2514600" cy="960120"/>
          </a:xfrm>
          <a:prstGeom prst="rect">
            <a:avLst/>
          </a:prstGeom>
          <a:solidFill>
            <a:srgbClr val="0F2236"/>
          </a:solidFill>
          <a:ln w="12700">
            <a:solidFill>
              <a:srgbClr val="05D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81160" y="4873752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281160" y="541324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Recall (macro)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Presentation Outline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 ·  INFO-I520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512064" cy="548640"/>
          </a:xfrm>
          <a:prstGeom prst="rect">
            <a:avLst/>
          </a:prstGeom>
          <a:solidFill>
            <a:srgbClr val="FF3E6C">
              <a:alpha val="80000"/>
            </a:srgbClr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49808"/>
            <a:ext cx="512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05840" y="749808"/>
            <a:ext cx="10789920" cy="548640"/>
          </a:xfrm>
          <a:prstGeom prst="rect">
            <a:avLst/>
          </a:prstGeom>
          <a:solidFill>
            <a:srgbClr val="FF3E6C">
              <a:alpha val="12000"/>
            </a:srgbClr>
          </a:solidFill>
          <a:ln w="19050">
            <a:solidFill>
              <a:srgbClr val="FF3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749808"/>
            <a:ext cx="50292" cy="548640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804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1042416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signature-based IDS fails; the zero-day gap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481328"/>
            <a:ext cx="512064" cy="548640"/>
          </a:xfrm>
          <a:prstGeom prst="rect">
            <a:avLst/>
          </a:prstGeom>
          <a:solidFill>
            <a:srgbClr val="FF8B3D">
              <a:alpha val="80000"/>
            </a:srgbClr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81328"/>
            <a:ext cx="512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05840" y="1481328"/>
            <a:ext cx="10789920" cy="548640"/>
          </a:xfrm>
          <a:prstGeom prst="rect">
            <a:avLst/>
          </a:prstGeom>
          <a:solidFill>
            <a:srgbClr val="FF8B3D">
              <a:alpha val="12000"/>
            </a:srgbClr>
          </a:solidFill>
          <a:ln w="19050">
            <a:solidFill>
              <a:srgbClr val="FF8B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1481328"/>
            <a:ext cx="50292" cy="548640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15361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1773936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5-layer pipeline: Data → Features → ML → XAI → Output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212848"/>
            <a:ext cx="512064" cy="548640"/>
          </a:xfrm>
          <a:prstGeom prst="rect">
            <a:avLst/>
          </a:prstGeom>
          <a:solidFill>
            <a:srgbClr val="00C4FF">
              <a:alpha val="8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212848"/>
            <a:ext cx="512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05840" y="2212848"/>
            <a:ext cx="10789920" cy="548640"/>
          </a:xfrm>
          <a:prstGeom prst="rect">
            <a:avLst/>
          </a:prstGeom>
          <a:solidFill>
            <a:srgbClr val="00C4FF">
              <a:alpha val="12000"/>
            </a:srgbClr>
          </a:solidFill>
          <a:ln w="19050">
            <a:solidFill>
              <a:srgbClr val="00C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" y="2212848"/>
            <a:ext cx="50292" cy="54864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22677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2505456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CICIDS2017 — 19,950 flows, 4 BENIGN subtypes, 17 attacks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944368"/>
            <a:ext cx="512064" cy="548640"/>
          </a:xfrm>
          <a:prstGeom prst="rect">
            <a:avLst/>
          </a:prstGeom>
          <a:solidFill>
            <a:srgbClr val="FF3E6C">
              <a:alpha val="80000"/>
            </a:srgbClr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944368"/>
            <a:ext cx="512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05840" y="2944368"/>
            <a:ext cx="10789920" cy="548640"/>
          </a:xfrm>
          <a:prstGeom prst="rect">
            <a:avLst/>
          </a:prstGeom>
          <a:solidFill>
            <a:srgbClr val="FF3E6C">
              <a:alpha val="12000"/>
            </a:srgbClr>
          </a:solidFill>
          <a:ln w="19050">
            <a:solidFill>
              <a:srgbClr val="FF3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5840" y="2944368"/>
            <a:ext cx="50292" cy="548640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29992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Deep-Dive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3236976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(unsupervised) + Random Forest (18-class)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675888"/>
            <a:ext cx="512064" cy="548640"/>
          </a:xfrm>
          <a:prstGeom prst="rect">
            <a:avLst/>
          </a:prstGeom>
          <a:solidFill>
            <a:srgbClr val="A67CFF">
              <a:alpha val="80000"/>
            </a:srgbClr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75888"/>
            <a:ext cx="512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1005840" y="3675888"/>
            <a:ext cx="10789920" cy="548640"/>
          </a:xfrm>
          <a:prstGeom prst="rect">
            <a:avLst/>
          </a:prstGeom>
          <a:solidFill>
            <a:srgbClr val="A67CFF">
              <a:alpha val="12000"/>
            </a:srgbClr>
          </a:solidFill>
          <a:ln w="19050">
            <a:solidFill>
              <a:srgbClr val="A67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5840" y="3675888"/>
            <a:ext cx="50292" cy="548640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37307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Attribution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3968496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formula, deviation table, guaranteed rate features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407408"/>
            <a:ext cx="512064" cy="548640"/>
          </a:xfrm>
          <a:prstGeom prst="rect">
            <a:avLst/>
          </a:prstGeom>
          <a:solidFill>
            <a:srgbClr val="00E6A0">
              <a:alpha val="80000"/>
            </a:srgbClr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407408"/>
            <a:ext cx="512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1005840" y="4407408"/>
            <a:ext cx="10789920" cy="548640"/>
          </a:xfrm>
          <a:prstGeom prst="rect">
            <a:avLst/>
          </a:prstGeom>
          <a:solidFill>
            <a:srgbClr val="00E6A0">
              <a:alpha val="12000"/>
            </a:srgbClr>
          </a:solidFill>
          <a:ln w="1905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5840" y="4407408"/>
            <a:ext cx="50292" cy="548640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43000" y="4462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3000" y="4700016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89.6% / RF 90.8% accuracy — macro recall 94.4%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5138928"/>
            <a:ext cx="512064" cy="548640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5138928"/>
            <a:ext cx="512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1005840" y="5138928"/>
            <a:ext cx="10789920" cy="548640"/>
          </a:xfrm>
          <a:prstGeom prst="rect">
            <a:avLst/>
          </a:prstGeom>
          <a:solidFill>
            <a:srgbClr val="FFD166">
              <a:alpha val="12000"/>
            </a:srgbClr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05840" y="5138928"/>
            <a:ext cx="50292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3000" y="5193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PCAP Validation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143000" y="5431536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Firefox browsing: 12 flows, DNS clean, CDN burst CRITICAL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5870448"/>
            <a:ext cx="512064" cy="548640"/>
          </a:xfrm>
          <a:prstGeom prst="rect">
            <a:avLst/>
          </a:prstGeom>
          <a:solidFill>
            <a:srgbClr val="05D9A0">
              <a:alpha val="80000"/>
            </a:srgbClr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5870448"/>
            <a:ext cx="512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1005840" y="5870448"/>
            <a:ext cx="10789920" cy="548640"/>
          </a:xfrm>
          <a:prstGeom prst="rect">
            <a:avLst/>
          </a:prstGeom>
          <a:solidFill>
            <a:srgbClr val="05D9A0">
              <a:alpha val="12000"/>
            </a:srgbClr>
          </a:solidFill>
          <a:ln w="19050">
            <a:solidFill>
              <a:srgbClr val="05D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05840" y="5870448"/>
            <a:ext cx="50292" cy="548640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43000" y="5925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43000" y="6163056"/>
            <a:ext cx="10424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deployment notes, open-source release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 Statement — The Zero-Day Gap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 ·  INFO-I520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IDS Limitations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2651760" cy="2057400"/>
          </a:xfrm>
          <a:prstGeom prst="rect">
            <a:avLst/>
          </a:prstGeom>
          <a:solidFill>
            <a:srgbClr val="FF3E6C">
              <a:alpha val="12000"/>
            </a:srgbClr>
          </a:solidFill>
          <a:ln w="19050">
            <a:solidFill>
              <a:srgbClr val="FF3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115568"/>
            <a:ext cx="50292" cy="2057400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070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Blindness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17904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609344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systems (Snort, Suricata) cannot detect attacks with no known signature. Patches lag by days to weeks.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115568"/>
            <a:ext cx="2651760" cy="2057400"/>
          </a:xfrm>
          <a:prstGeom prst="rect">
            <a:avLst/>
          </a:prstGeom>
          <a:solidFill>
            <a:srgbClr val="FF8B3D">
              <a:alpha val="12000"/>
            </a:srgbClr>
          </a:solidFill>
          <a:ln w="19050">
            <a:solidFill>
              <a:srgbClr val="FF8B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15568"/>
            <a:ext cx="50292" cy="2057400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20700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 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517904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1609344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require constant manual updates. Polymorphic malware and protocol variants evade them trivially.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2651760" cy="2057400"/>
          </a:xfrm>
          <a:prstGeom prst="rect">
            <a:avLst/>
          </a:prstGeom>
          <a:solidFill>
            <a:srgbClr val="FFD166">
              <a:alpha val="12000"/>
            </a:srgbClr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419856"/>
            <a:ext cx="50292" cy="2057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112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Context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91363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Packet-level rules miss behavioral patterns only visible across the full bidirectional flow over time.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3419856"/>
            <a:ext cx="2651760" cy="2057400"/>
          </a:xfrm>
          <a:prstGeom prst="rect">
            <a:avLst/>
          </a:prstGeom>
          <a:solidFill>
            <a:srgbClr val="8BA8C0">
              <a:alpha val="12000"/>
            </a:srgbClr>
          </a:solidFill>
          <a:ln w="19050">
            <a:solidFill>
              <a:srgbClr val="8BA8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419856"/>
            <a:ext cx="50292" cy="2057400"/>
          </a:xfrm>
          <a:prstGeom prst="rect">
            <a:avLst/>
          </a:prstGeom>
          <a:solidFill>
            <a:srgbClr val="8BA8C0"/>
          </a:solidFill>
          <a:ln w="12700">
            <a:solidFill>
              <a:srgbClr val="8BA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351129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822192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91363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false-positive rates cause analysts to ignore alerts — 60%+ of IDS alerts go uninvestigated.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685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Approach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63640" y="1115568"/>
            <a:ext cx="5577840" cy="1115568"/>
          </a:xfrm>
          <a:prstGeom prst="rect">
            <a:avLst/>
          </a:prstGeom>
          <a:solidFill>
            <a:srgbClr val="00E6A0">
              <a:alpha val="12000"/>
            </a:srgbClr>
          </a:solidFill>
          <a:ln w="1905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1115568"/>
            <a:ext cx="50292" cy="1115568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1207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1463040"/>
            <a:ext cx="53949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5544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CICIDS2017 flow features model statistical behavior — anomalies flagged by deviation, not signatures.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2414016"/>
            <a:ext cx="5577840" cy="1115568"/>
          </a:xfrm>
          <a:prstGeom prst="rect">
            <a:avLst/>
          </a:prstGeom>
          <a:solidFill>
            <a:srgbClr val="05D9A0">
              <a:alpha val="12000"/>
            </a:srgbClr>
          </a:solidFill>
          <a:ln w="19050">
            <a:solidFill>
              <a:srgbClr val="05D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2414016"/>
            <a:ext cx="50292" cy="1115568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5054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Isolation Forest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2761488"/>
            <a:ext cx="53949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285292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BENIGN traffic only. Any flow deviating significantly is anomalous — zero-days included.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3712464"/>
            <a:ext cx="5577840" cy="1115568"/>
          </a:xfrm>
          <a:prstGeom prst="rect">
            <a:avLst/>
          </a:prstGeom>
          <a:solidFill>
            <a:srgbClr val="00C4FF">
              <a:alpha val="12000"/>
            </a:srgbClr>
          </a:solidFill>
          <a:ln w="19050">
            <a:solidFill>
              <a:srgbClr val="00C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3712464"/>
            <a:ext cx="50292" cy="111556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380390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Consensus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55080" y="4059936"/>
            <a:ext cx="53949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415137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detects anomaly + RF provides specific attack label. Cross-model agreement reduces false positives.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010912"/>
            <a:ext cx="5577840" cy="1115568"/>
          </a:xfrm>
          <a:prstGeom prst="rect">
            <a:avLst/>
          </a:prstGeom>
          <a:solidFill>
            <a:srgbClr val="A67CFF">
              <a:alpha val="12000"/>
            </a:srgbClr>
          </a:solidFill>
          <a:ln w="19050">
            <a:solidFill>
              <a:srgbClr val="A67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5010912"/>
            <a:ext cx="50292" cy="1115568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51023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SHAP-Style Explainability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55080" y="5358384"/>
            <a:ext cx="53949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5449824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includes feature attribution — analyst sees exactly which flow properties triggered the alert.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80760" y="749808"/>
            <a:ext cx="27432" cy="5577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 — 5-Layer Processing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 ·  Data Input → Feature Extraction → ML Inference → XAI Attribution → Output &amp; API</a:t>
            </a:r>
            <a:endParaRPr lang="en-US" sz="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21792"/>
            <a:ext cx="11887200" cy="5961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Dataset &amp; Training — Synthetic CICIDS2017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 ·  INFO-I520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658368"/>
          <a:ext cx="530352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852160" y="65836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1078992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0" y="1078992"/>
            <a:ext cx="45720" cy="420624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16752" y="11521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56448" y="11521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19,950 flows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1554480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1554480"/>
            <a:ext cx="45720" cy="42062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16752" y="1627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156448" y="162763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/ 25%  (stratified)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52160" y="2029968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852160" y="2029968"/>
            <a:ext cx="45720" cy="420624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16752" y="21031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Training Set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156448" y="2103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7,312 BENIGN-only flows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52160" y="2505456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2160" y="2505456"/>
            <a:ext cx="45720" cy="420624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16752" y="25786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Training Set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156448" y="2578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14,962 labeled flows + noise σ=0.30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852160" y="2980944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52160" y="2980944"/>
            <a:ext cx="45720" cy="4206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16752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θ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156448" y="305409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0.50043  (90th pct of BENIGN)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52160" y="3456432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52160" y="3456432"/>
            <a:ext cx="45720" cy="42062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16752" y="35295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Divisor δ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156448" y="35295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0.17290  (attack p95 − θ)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52160" y="3931920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852160" y="3931920"/>
            <a:ext cx="45720" cy="420624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16752" y="40050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Max Depth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8156448" y="400507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n_estimators = 100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852160" y="4407408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852160" y="4407408"/>
            <a:ext cx="45720" cy="420624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16752" y="44805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8156448" y="44805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 (handles imbalance)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852160" y="4882896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852160" y="4882896"/>
            <a:ext cx="45720" cy="420624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016752" y="49560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Subtypes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8156448" y="49560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Bulk · Interactive · UDP/DNS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852160" y="5358384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852160" y="5358384"/>
            <a:ext cx="45720" cy="420624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16752" y="54315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Flag Model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156448" y="54315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≈ 82% of total packets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852160" y="5833872"/>
            <a:ext cx="5943600" cy="420624"/>
          </a:xfrm>
          <a:prstGeom prst="rect">
            <a:avLst/>
          </a:prstGeom>
          <a:solidFill>
            <a:srgbClr val="0F2236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52160" y="5833872"/>
            <a:ext cx="45720" cy="420624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16752" y="59070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Flag Model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8156448" y="59070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 = SUSPICIOUS  · &gt;8 = ANOMALOUS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ML Models — Isolation Forest + Random Forest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 ·  INFO-I520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658368"/>
            <a:ext cx="5394960" cy="2880360"/>
          </a:xfrm>
          <a:prstGeom prst="rect">
            <a:avLst/>
          </a:prstGeom>
          <a:solidFill>
            <a:srgbClr val="FF3E6C">
              <a:alpha val="12000"/>
            </a:srgbClr>
          </a:solidFill>
          <a:ln w="19050">
            <a:solidFill>
              <a:srgbClr val="FF3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658368"/>
            <a:ext cx="50292" cy="2880360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31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 (Unsupervised)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069848"/>
            <a:ext cx="5212080" cy="22860"/>
          </a:xfrm>
          <a:prstGeom prst="rect">
            <a:avLst/>
          </a:prstGeom>
          <a:solidFill>
            <a:srgbClr val="FF3E6C">
              <a:alpha val="40000"/>
            </a:srgbClr>
          </a:solidFill>
          <a:ln w="12700">
            <a:solidFill>
              <a:srgbClr val="FF3E6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704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11704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are isolated faster by random partitioning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14264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0280" y="142646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6824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40280" y="16824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(liberal; threshold overrides)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19385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BENIGN-only — 7,312 flows — zero attack labels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194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function: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21945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IF_raw = −score_samples(f_scaled)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24505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θ: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40280" y="24505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0.50043  (90th percentile of BENIGN scores)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7066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40280" y="270662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if  IF_raw ≥ θ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296265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power: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40280" y="296265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attack labels needed → detects novel exploits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658368"/>
            <a:ext cx="5760720" cy="2880360"/>
          </a:xfrm>
          <a:prstGeom prst="rect">
            <a:avLst/>
          </a:prstGeom>
          <a:solidFill>
            <a:srgbClr val="FF8B3D">
              <a:alpha val="12000"/>
            </a:srgbClr>
          </a:solidFill>
          <a:ln w="19050">
            <a:solidFill>
              <a:srgbClr val="FF8B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658368"/>
            <a:ext cx="50292" cy="2880360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731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(Supervised — 18 Classes)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069848"/>
            <a:ext cx="5577840" cy="22860"/>
          </a:xfrm>
          <a:prstGeom prst="rect">
            <a:avLst/>
          </a:prstGeom>
          <a:solidFill>
            <a:srgbClr val="FF8B3D">
              <a:alpha val="40000"/>
            </a:srgbClr>
          </a:solidFill>
          <a:ln w="12700">
            <a:solidFill>
              <a:srgbClr val="FF8B3D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17043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73568" y="117043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  max_depth = 8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142646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73568" y="142646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 (prevents majority-class bias)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17920" y="168249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73568" y="168249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 BENIGN + 17 attack types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19385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73568" y="193852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attack_label  +  rf_conf ∈ [0,1]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0" y="21945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suppression: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973568" y="219456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rf_conf ≥ 0.85 → score capped at 25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17920" y="2450592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guard: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73568" y="245059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flows → nullify TCP-only labels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17920" y="2706624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avg: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73568" y="270662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 across all 18 classes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17920" y="29626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73568" y="296265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recall misleading → use macro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703320"/>
            <a:ext cx="11430000" cy="1389888"/>
          </a:xfrm>
          <a:prstGeom prst="rect">
            <a:avLst/>
          </a:prstGeom>
          <a:solidFill>
            <a:srgbClr val="FFD166">
              <a:alpha val="12000"/>
            </a:srgbClr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3703320"/>
            <a:ext cx="50292" cy="13898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7764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Score Normalization Formula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413308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ThreatScore  =  clip(  (IF_raw − θ) / δ  ×  100 ,  0 ,  100  )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48640" y="4535424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0.50043  (90th pct BENIGN)     δ = attack_p95 − θ = 0.17290     score ∈ [0, 100]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5074920"/>
            <a:ext cx="2011680" cy="1481328"/>
          </a:xfrm>
          <a:prstGeom prst="rect">
            <a:avLst/>
          </a:prstGeom>
          <a:solidFill>
            <a:srgbClr val="05D9A0">
              <a:alpha val="18000"/>
            </a:srgbClr>
          </a:solidFill>
          <a:ln w="19050">
            <a:solidFill>
              <a:srgbClr val="05D9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51755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502920" y="5715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02920" y="6080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0" y="5074920"/>
            <a:ext cx="2011680" cy="1481328"/>
          </a:xfrm>
          <a:prstGeom prst="rect">
            <a:avLst/>
          </a:prstGeom>
          <a:solidFill>
            <a:srgbClr val="00C4FF">
              <a:alpha val="18000"/>
            </a:srgbClr>
          </a:solidFill>
          <a:ln w="19050">
            <a:solidFill>
              <a:srgbClr val="00C4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0" y="51755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2743200" y="5715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6–34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2743200" y="6080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983480" y="5074920"/>
            <a:ext cx="2011680" cy="1481328"/>
          </a:xfrm>
          <a:prstGeom prst="rect">
            <a:avLst/>
          </a:prstGeom>
          <a:solidFill>
            <a:srgbClr val="FFD166">
              <a:alpha val="18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83480" y="51755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4983480" y="5715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35–59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983480" y="6080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223760" y="5074920"/>
            <a:ext cx="2011680" cy="1481328"/>
          </a:xfrm>
          <a:prstGeom prst="rect">
            <a:avLst/>
          </a:prstGeom>
          <a:solidFill>
            <a:srgbClr val="FF8B3D">
              <a:alpha val="18000"/>
            </a:srgbClr>
          </a:solidFill>
          <a:ln w="19050">
            <a:solidFill>
              <a:srgbClr val="FF8B3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23760" y="51755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7223760" y="5715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60–79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223760" y="6080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464040" y="5074920"/>
            <a:ext cx="2011680" cy="1481328"/>
          </a:xfrm>
          <a:prstGeom prst="rect">
            <a:avLst/>
          </a:prstGeom>
          <a:solidFill>
            <a:srgbClr val="FF3E6C">
              <a:alpha val="18000"/>
            </a:srgbClr>
          </a:solidFill>
          <a:ln w="19050">
            <a:solidFill>
              <a:srgbClr val="FF3E6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464040" y="517550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9464040" y="5715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464040" y="6080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Explainable AI — SHAP-Style Feature Attribution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 ·  contributionᵢ = |scaled_valueᵢ| × RF_importanceᵢ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658368"/>
            <a:ext cx="11430000" cy="822960"/>
          </a:xfrm>
          <a:prstGeom prst="rect">
            <a:avLst/>
          </a:prstGeom>
          <a:solidFill>
            <a:srgbClr val="A67CFF">
              <a:alpha val="12000"/>
            </a:srgbClr>
          </a:solidFill>
          <a:ln w="19050">
            <a:solidFill>
              <a:srgbClr val="A67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658368"/>
            <a:ext cx="50292" cy="822960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49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Formula: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7498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contributionᵢ  =  | scaled_valueᵢ |  ×  RF_importanceᵢ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106070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scaled_value = StandardScaler z-score   ·   RF_importance = Gini impurity (trained RF)   ·   Top-15 + guaranteed rate features</a:t>
            </a:r>
            <a:endParaRPr lang="en-US" sz="9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65760" y="1572768"/>
          <a:ext cx="6583680" cy="5010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132320" y="1572768"/>
            <a:ext cx="4663440" cy="914400"/>
          </a:xfrm>
          <a:prstGeom prst="rect">
            <a:avLst/>
          </a:prstGeom>
          <a:solidFill>
            <a:srgbClr val="FF3E6C">
              <a:alpha val="12000"/>
            </a:srgbClr>
          </a:solidFill>
          <a:ln w="19050">
            <a:solidFill>
              <a:srgbClr val="FF3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132320" y="1572768"/>
            <a:ext cx="50292" cy="914400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0" y="16459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 Packets/s (0.3312)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23760" y="1892808"/>
            <a:ext cx="44805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19568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1,252 pkt/s — highest z-score. This single feature places the flow at the 99th pct of BENIGN distribution.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32320" y="2578608"/>
            <a:ext cx="4663440" cy="914400"/>
          </a:xfrm>
          <a:prstGeom prst="rect">
            <a:avLst/>
          </a:prstGeom>
          <a:solidFill>
            <a:srgbClr val="FF8B3D">
              <a:alpha val="12000"/>
            </a:srgbClr>
          </a:solidFill>
          <a:ln w="19050">
            <a:solidFill>
              <a:srgbClr val="FF8B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132320" y="2578608"/>
            <a:ext cx="50292" cy="914400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0" y="26517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Bwd Packets (0.2461)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223760" y="2898648"/>
            <a:ext cx="44805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29626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 backward packets in 0.23 s. Volume alone resembles volumetric attack response patterns.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32320" y="3584448"/>
            <a:ext cx="4663440" cy="914400"/>
          </a:xfrm>
          <a:prstGeom prst="rect">
            <a:avLst/>
          </a:prstGeom>
          <a:solidFill>
            <a:srgbClr val="FFD166">
              <a:alpha val="12000"/>
            </a:srgbClr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132320" y="3584448"/>
            <a:ext cx="50292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0" y="36576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Flag Count (0.1230)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223760" y="3904488"/>
            <a:ext cx="44805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0" y="39684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SYN flags — NOT a SYN flood. XAI correctly deprioritizes this, showing burst is data-driven not handshake-driven.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132320" y="4590288"/>
            <a:ext cx="4663440" cy="914400"/>
          </a:xfrm>
          <a:prstGeom prst="rect">
            <a:avLst/>
          </a:prstGeom>
          <a:solidFill>
            <a:srgbClr val="A67CFF">
              <a:alpha val="12000"/>
            </a:srgbClr>
          </a:solidFill>
          <a:ln w="19050">
            <a:solidFill>
              <a:srgbClr val="A67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132320" y="4590288"/>
            <a:ext cx="50292" cy="914400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0" y="46634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Pkt Length Std (0.1100)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7223760" y="4910328"/>
            <a:ext cx="44805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0" y="49743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variance: 60-byte ACKs mixed with 1400-byte frames. Atypical of normal BENIGN baseline distributions.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132320" y="5596128"/>
            <a:ext cx="4663440" cy="914400"/>
          </a:xfrm>
          <a:prstGeom prst="rect">
            <a:avLst/>
          </a:prstGeom>
          <a:solidFill>
            <a:srgbClr val="00C4FF">
              <a:alpha val="12000"/>
            </a:srgbClr>
          </a:solidFill>
          <a:ln w="19050">
            <a:solidFill>
              <a:srgbClr val="00C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132320" y="5596128"/>
            <a:ext cx="50292" cy="91440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0" y="56692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Output: BENIGN (61%)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7223760" y="5916168"/>
            <a:ext cx="448056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315200" y="59801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correctly identifies HTTPS traffic as BENIGN. IF disagrees → classic high-bandwidth false positive documented in live PCAP test.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Experimental Results — Performance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 ·  Tested 2026-03-10  ·  INFO-I520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658368"/>
            <a:ext cx="2103120" cy="1481328"/>
          </a:xfrm>
          <a:prstGeom prst="rect">
            <a:avLst/>
          </a:prstGeom>
          <a:solidFill>
            <a:srgbClr val="FF3E6C">
              <a:alpha val="16000"/>
            </a:srgbClr>
          </a:solidFill>
          <a:ln w="19050">
            <a:solidFill>
              <a:srgbClr val="FF3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74980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658368"/>
            <a:ext cx="2103120" cy="1481328"/>
          </a:xfrm>
          <a:prstGeom prst="rect">
            <a:avLst/>
          </a:prstGeom>
          <a:solidFill>
            <a:srgbClr val="FF3E6C">
              <a:alpha val="16000"/>
            </a:srgbClr>
          </a:solidFill>
          <a:ln w="19050">
            <a:solidFill>
              <a:srgbClr val="FF3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74980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89.9%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97480" y="155448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F1 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658368"/>
            <a:ext cx="2103120" cy="1481328"/>
          </a:xfrm>
          <a:prstGeom prst="rect">
            <a:avLst/>
          </a:prstGeom>
          <a:solidFill>
            <a:srgbClr val="FF8B3D">
              <a:alpha val="16000"/>
            </a:srgbClr>
          </a:solidFill>
          <a:ln w="19050">
            <a:solidFill>
              <a:srgbClr val="FF8B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74980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029200" y="155448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658368"/>
            <a:ext cx="2103120" cy="1481328"/>
          </a:xfrm>
          <a:prstGeom prst="rect">
            <a:avLst/>
          </a:prstGeom>
          <a:solidFill>
            <a:srgbClr val="00E6A0">
              <a:alpha val="16000"/>
            </a:srgbClr>
          </a:solidFill>
          <a:ln w="1905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0920" y="74980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360920" y="155448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Recall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(macro-18)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0" y="658368"/>
            <a:ext cx="2103120" cy="1481328"/>
          </a:xfrm>
          <a:prstGeom prst="rect">
            <a:avLst/>
          </a:prstGeom>
          <a:solidFill>
            <a:srgbClr val="00C4FF">
              <a:alpha val="16000"/>
            </a:srgbClr>
          </a:solidFill>
          <a:ln w="19050">
            <a:solidFill>
              <a:srgbClr val="00C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92640" y="74980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89.4%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692640" y="155448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Precision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(macro-18)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65760" y="2286000"/>
          <a:ext cx="68580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7498080" y="22860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vs. Related Work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2706624"/>
          <a:ext cx="4297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41248"/>
                <a:gridCol w="8046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8BA8C0"/>
                          </a:solidFill>
                        </a:rPr>
                        <a:t>System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BA8C0"/>
                          </a:solidFill>
                        </a:rPr>
                        <a:t>Prec.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BA8C0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BA8C0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AF4FF"/>
                          </a:solidFill>
                        </a:rPr>
                        <a:t>IF Baseline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0.84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0.88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0.86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AF4FF"/>
                          </a:solidFill>
                        </a:rPr>
                        <a:t>RF Baseline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0.87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0.93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0.90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AF4FF"/>
                          </a:solidFill>
                        </a:rPr>
                        <a:t>Hybrid IF+RF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0.88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0.91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AF4FF"/>
                          </a:solidFill>
                        </a:rPr>
                        <a:t>0.89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E6A0"/>
                          </a:solidFill>
                        </a:rPr>
                        <a:t>ZeroSight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A0"/>
                          </a:solidFill>
                        </a:rPr>
                        <a:t>0.894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A0"/>
                          </a:solidFill>
                        </a:rPr>
                        <a:t>0.944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E6A0"/>
                          </a:solidFill>
                        </a:rPr>
                        <a:t>0.895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A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7498080" y="4937760"/>
            <a:ext cx="4297680" cy="1508760"/>
          </a:xfrm>
          <a:prstGeom prst="rect">
            <a:avLst/>
          </a:prstGeom>
          <a:solidFill>
            <a:srgbClr val="FFD166">
              <a:alpha val="12000"/>
            </a:srgbClr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498080" y="4937760"/>
            <a:ext cx="50292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99248" y="50109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7589520" y="5285232"/>
            <a:ext cx="411480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99248" y="53492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90th percentile of BENIGN scores = 0.50043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7699248" y="55961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rate on training data: ~10% (operator-tunable)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7699248" y="5852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Macro-avg recall (not binary) = meaningful metric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7699248" y="60990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recall = 100% on synthetic (trivially separable)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Live PCAP Validation — Firefox Browsing on Kali Linux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sudo tcpdump -i eth0 -c 500 -w test_capture.pcap  ·  Firefox → Mozilla / Reddit  ·  500 pkts  ·  12 bidirectional flows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 Real browser traffic — no lab-crafted packets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024128"/>
            <a:ext cx="11430000" cy="1234440"/>
          </a:xfrm>
          <a:prstGeom prst="rect">
            <a:avLst/>
          </a:prstGeom>
          <a:solidFill>
            <a:srgbClr val="05D9A0">
              <a:alpha val="10000"/>
            </a:srgbClr>
          </a:solidFill>
          <a:ln w="19050">
            <a:solidFill>
              <a:srgbClr val="05D9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24128"/>
            <a:ext cx="50292" cy="1234440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179576"/>
            <a:ext cx="914400" cy="914400"/>
          </a:xfrm>
          <a:prstGeom prst="ellipse">
            <a:avLst/>
          </a:prstGeom>
          <a:solidFill>
            <a:srgbClr val="05D9A0">
              <a:alpha val="45000"/>
            </a:srgbClr>
          </a:solidFill>
          <a:ln w="25400">
            <a:solidFill>
              <a:srgbClr val="05D9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17957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72768" y="11155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UDP/53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1155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Queries ×6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140817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10.0.2.15 → 75.75.75.75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72768" y="16459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10–162 pkt/s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1408176"/>
            <a:ext cx="1371600" cy="347472"/>
          </a:xfrm>
          <a:prstGeom prst="rect">
            <a:avLst/>
          </a:prstGeom>
          <a:solidFill>
            <a:srgbClr val="05D9A0">
              <a:alpha val="28000"/>
            </a:srgbClr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4081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115568"/>
            <a:ext cx="1828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1133856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DNS flows score exactly 0. UDP subtype correctly isolated from TCP attack classes. DNS label preserved through protocol guard.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414016"/>
            <a:ext cx="11430000" cy="1234440"/>
          </a:xfrm>
          <a:prstGeom prst="rect">
            <a:avLst/>
          </a:prstGeom>
          <a:solidFill>
            <a:srgbClr val="00C4FF">
              <a:alpha val="10000"/>
            </a:srgbClr>
          </a:solidFill>
          <a:ln w="19050">
            <a:solidFill>
              <a:srgbClr val="00C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414016"/>
            <a:ext cx="50292" cy="123444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2569464"/>
            <a:ext cx="914400" cy="914400"/>
          </a:xfrm>
          <a:prstGeom prst="ellipse">
            <a:avLst/>
          </a:prstGeom>
          <a:solidFill>
            <a:srgbClr val="00C4FF">
              <a:alpha val="45000"/>
            </a:srgbClr>
          </a:solidFill>
          <a:ln w="25400">
            <a:solidFill>
              <a:srgbClr val="00C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569464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12–39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72768" y="250545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TCP/443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14600" y="25054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Short Flows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2798064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10.0.2.15 → 151.101.1.91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572768" y="30358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28–202 pkt/s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0680" y="2798064"/>
            <a:ext cx="1371600" cy="347472"/>
          </a:xfrm>
          <a:prstGeom prst="rect">
            <a:avLst/>
          </a:prstGeom>
          <a:solidFill>
            <a:srgbClr val="00C4FF">
              <a:alpha val="28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27980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95160" y="2505456"/>
            <a:ext cx="1828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523744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HTTPS connections. Pkt Length Std is top XAI driver — TLS handshake packets mixed with data frames. Some labeled DoS GoldenEye by RF.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803904"/>
            <a:ext cx="11430000" cy="1234440"/>
          </a:xfrm>
          <a:prstGeom prst="rect">
            <a:avLst/>
          </a:prstGeom>
          <a:solidFill>
            <a:srgbClr val="FF8B3D">
              <a:alpha val="10000"/>
            </a:srgbClr>
          </a:solidFill>
          <a:ln w="19050">
            <a:solidFill>
              <a:srgbClr val="FF8B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803904"/>
            <a:ext cx="50292" cy="1234440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959352"/>
            <a:ext cx="914400" cy="914400"/>
          </a:xfrm>
          <a:prstGeom prst="ellipse">
            <a:avLst/>
          </a:prstGeom>
          <a:solidFill>
            <a:srgbClr val="FF8B3D">
              <a:alpha val="45000"/>
            </a:srgbClr>
          </a:solidFill>
          <a:ln w="25400">
            <a:solidFill>
              <a:srgbClr val="FF8B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593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572768" y="38953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TCP/443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14600" y="38953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Mid-Rate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72768" y="418795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10.0.2.15 → 151.101.129.91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572768" y="44256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135 pkt/s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0680" y="4187952"/>
            <a:ext cx="1371600" cy="347472"/>
          </a:xfrm>
          <a:prstGeom prst="rect">
            <a:avLst/>
          </a:prstGeom>
          <a:solidFill>
            <a:srgbClr val="FF8B3D">
              <a:alpha val="28000"/>
            </a:srgbClr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41879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95160" y="3895344"/>
            <a:ext cx="1828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3913632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connection multiplexing creates multiple parallel short flows. Packet bursts resemble web attack patterns at flow-feature level.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5193792"/>
            <a:ext cx="11430000" cy="1234440"/>
          </a:xfrm>
          <a:prstGeom prst="rect">
            <a:avLst/>
          </a:prstGeom>
          <a:solidFill>
            <a:srgbClr val="FF3E6C">
              <a:alpha val="10000"/>
            </a:srgbClr>
          </a:solidFill>
          <a:ln w="19050">
            <a:solidFill>
              <a:srgbClr val="FF3E6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5193792"/>
            <a:ext cx="50292" cy="1234440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5349240"/>
            <a:ext cx="914400" cy="914400"/>
          </a:xfrm>
          <a:prstGeom prst="ellipse">
            <a:avLst/>
          </a:prstGeom>
          <a:solidFill>
            <a:srgbClr val="FF3E6C">
              <a:alpha val="45000"/>
            </a:srgbClr>
          </a:solidFill>
          <a:ln w="25400">
            <a:solidFill>
              <a:srgbClr val="FF3E6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5349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572768" y="52852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TCP/443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14600" y="52852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Burst (CDN)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572768" y="557784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10.0.2.15 → 151.101.193.91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572768" y="58155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1,514 pkt/s  ·  1.52 MB/s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40680" y="5577840"/>
            <a:ext cx="1371600" cy="347472"/>
          </a:xfrm>
          <a:prstGeom prst="rect">
            <a:avLst/>
          </a:prstGeom>
          <a:solidFill>
            <a:srgbClr val="FF3E6C">
              <a:alpha val="28000"/>
            </a:srgbClr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55778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995160" y="5285232"/>
            <a:ext cx="18288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5303520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download in 0.23 s. Bwd Packets/s (0.3312) = primary IF driver at 99th pct of BENIGN. RF says BENIGN (61%) — documented FP, CDN allowlisting recommended.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F2236"/>
          </a:solidFill>
          <a:ln w="12700">
            <a:solidFill>
              <a:srgbClr val="0F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0"/>
            <a:ext cx="12161520" cy="32004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Conclusions, Limitations &amp; Future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 · Systems &amp; Protocol Security · IU Bloomington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6556248"/>
            <a:ext cx="12161520" cy="30175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 ·  Open-Source  ·  INFO-I520  ·  IU Bloomington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5486400" cy="987552"/>
          </a:xfrm>
          <a:prstGeom prst="rect">
            <a:avLst/>
          </a:prstGeom>
          <a:solidFill>
            <a:srgbClr val="05D9A0">
              <a:alpha val="12000"/>
            </a:srgbClr>
          </a:solidFill>
          <a:ln w="19050">
            <a:solidFill>
              <a:srgbClr val="05D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78992"/>
            <a:ext cx="50292" cy="987552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70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435608"/>
            <a:ext cx="530352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517904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detects zero-days without attack labels; RF provides specific classification. Neither alone achieves both goals.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5486400" cy="987552"/>
          </a:xfrm>
          <a:prstGeom prst="rect">
            <a:avLst/>
          </a:prstGeom>
          <a:solidFill>
            <a:srgbClr val="00E6A0">
              <a:alpha val="12000"/>
            </a:srgbClr>
          </a:solidFill>
          <a:ln w="19050">
            <a:solidFill>
              <a:srgbClr val="00E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57984"/>
            <a:ext cx="50292" cy="987552"/>
          </a:xfrm>
          <a:prstGeom prst="rect">
            <a:avLst/>
          </a:prstGeom>
          <a:solidFill>
            <a:srgbClr val="00E6A0"/>
          </a:solidFill>
          <a:ln w="12700">
            <a:solidFill>
              <a:srgbClr val="00E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2494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90th-Pct Threshold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530352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596896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Operator-tunable FP/FN tradeoff. 0.50043 gives 10% FP on training BENIGN, ~90% recall on attacks.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5486400" cy="987552"/>
          </a:xfrm>
          <a:prstGeom prst="rect">
            <a:avLst/>
          </a:prstGeom>
          <a:solidFill>
            <a:srgbClr val="00C4FF">
              <a:alpha val="12000"/>
            </a:srgbClr>
          </a:solidFill>
          <a:ln w="19050">
            <a:solidFill>
              <a:srgbClr val="00C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36976"/>
            <a:ext cx="50292" cy="98755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2841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PCAP-Native Browser Parser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93592"/>
            <a:ext cx="530352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7588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timestamps, bidirectional flows, proportional flags — no server upload required. Privacy-preserving.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315968"/>
            <a:ext cx="5486400" cy="987552"/>
          </a:xfrm>
          <a:prstGeom prst="rect">
            <a:avLst/>
          </a:prstGeom>
          <a:solidFill>
            <a:srgbClr val="A67CFF">
              <a:alpha val="12000"/>
            </a:srgbClr>
          </a:solidFill>
          <a:ln w="19050">
            <a:solidFill>
              <a:srgbClr val="A67C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315968"/>
            <a:ext cx="50292" cy="987552"/>
          </a:xfrm>
          <a:prstGeom prst="rect">
            <a:avLst/>
          </a:prstGeom>
          <a:solidFill>
            <a:srgbClr val="A67CFF"/>
          </a:solidFill>
          <a:ln w="12700">
            <a:solidFill>
              <a:srgbClr val="A67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4074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XAI Rate Features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72584"/>
            <a:ext cx="530352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75488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Pkt/s and Bytes/s always included in attribution — deviation table always shows primary rate drivers.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5394960"/>
            <a:ext cx="5486400" cy="987552"/>
          </a:xfrm>
          <a:prstGeom prst="rect">
            <a:avLst/>
          </a:prstGeom>
          <a:solidFill>
            <a:srgbClr val="FF8B3D">
              <a:alpha val="12000"/>
            </a:srgbClr>
          </a:solidFill>
          <a:ln w="19050">
            <a:solidFill>
              <a:srgbClr val="FF8B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5394960"/>
            <a:ext cx="50292" cy="987552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5486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Macro-Average Evaluation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751576"/>
            <a:ext cx="530352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583387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methodology: 94.4% recall across 18 classes — not misleading binary 100%.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658368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26480" y="1078992"/>
            <a:ext cx="5669280" cy="987552"/>
          </a:xfrm>
          <a:prstGeom prst="rect">
            <a:avLst/>
          </a:prstGeom>
          <a:solidFill>
            <a:srgbClr val="FF3E6C">
              <a:alpha val="12000"/>
            </a:srgbClr>
          </a:solidFill>
          <a:ln w="19050">
            <a:solidFill>
              <a:srgbClr val="FF3E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078992"/>
            <a:ext cx="50292" cy="987552"/>
          </a:xfrm>
          <a:prstGeom prst="rect">
            <a:avLst/>
          </a:prstGeom>
          <a:solidFill>
            <a:srgbClr val="FF3E6C"/>
          </a:solidFill>
          <a:ln w="12700">
            <a:solidFill>
              <a:srgbClr val="FF3E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1704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Training Data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1435608"/>
            <a:ext cx="548640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1517904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drawn from real production traffic — may miss class variance in encrypted protocols.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2157984"/>
            <a:ext cx="5669280" cy="987552"/>
          </a:xfrm>
          <a:prstGeom prst="rect">
            <a:avLst/>
          </a:prstGeom>
          <a:solidFill>
            <a:srgbClr val="FF8B3D">
              <a:alpha val="12000"/>
            </a:srgbClr>
          </a:solidFill>
          <a:ln w="19050">
            <a:solidFill>
              <a:srgbClr val="FF8B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157984"/>
            <a:ext cx="50292" cy="987552"/>
          </a:xfrm>
          <a:prstGeom prst="rect">
            <a:avLst/>
          </a:prstGeom>
          <a:solidFill>
            <a:srgbClr val="FF8B3D"/>
          </a:solidFill>
          <a:ln w="12700">
            <a:solidFill>
              <a:srgbClr val="FF8B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22494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Approximation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2514600"/>
            <a:ext cx="548640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2596896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exact Shapley values — feature interaction effects not captured.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3236976"/>
            <a:ext cx="5669280" cy="987552"/>
          </a:xfrm>
          <a:prstGeom prst="rect">
            <a:avLst/>
          </a:prstGeom>
          <a:solidFill>
            <a:srgbClr val="FFD166">
              <a:alpha val="12000"/>
            </a:srgbClr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3236976"/>
            <a:ext cx="50292" cy="9875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332841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FP on BENIGN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3593592"/>
            <a:ext cx="548640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367588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downloads and multiplexed connections flagged. CDN allowlisting required.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26480" y="4352544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126480" y="475488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 CICIDS2017 + UNSW-NB15 datasets for out-of-sample validation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feedback loop for online threshold adaptation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PCAP analysis (ring-buffer) for continuous monitoring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 via TreeExplainer for full feature interaction attribution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Protocol-specific baselining — separate IF models per application type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61520" cy="64008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731520"/>
            <a:ext cx="9966960" cy="5394960"/>
          </a:xfrm>
          <a:prstGeom prst="rect">
            <a:avLst/>
          </a:prstGeom>
          <a:solidFill>
            <a:srgbClr val="0F2236">
              <a:alpha val="75000"/>
            </a:srgbClr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400" kern="0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0" y="2880360"/>
            <a:ext cx="5212080" cy="32004"/>
          </a:xfrm>
          <a:prstGeom prst="rect">
            <a:avLst/>
          </a:prstGeom>
          <a:solidFill>
            <a:srgbClr val="05D9A0"/>
          </a:solidFill>
          <a:ln w="12700">
            <a:solidFill>
              <a:srgbClr val="05D9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063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30632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ZeroSight v2 — Behavioral Anomaly Detection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593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5935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CICIDS2017  ·  19,950 flows  ·  17 attack classes  ·  31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412394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4123944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(89.9% F1)  +  Random Forest (94.4% macro recall)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465429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4654296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FastAPI  ·  JavaScript  ·  tcpdump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51846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8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51846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INFO-I520: Security for Networked Systems  ·  Spring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6446520"/>
            <a:ext cx="1216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Sudeep R  ·  Indiana University Bloomington  ·  Luddy School of Informatics  · 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ZeroSight: Behavioral Anomaly Detection</dc:title>
  <dc:subject>PptxGenJS Presentation</dc:subject>
  <dc:creator>Sudeep R</dc:creator>
  <cp:lastModifiedBy>Sudeep R</cp:lastModifiedBy>
  <cp:revision>1</cp:revision>
  <dcterms:created xsi:type="dcterms:W3CDTF">2026-03-10T16:35:59Z</dcterms:created>
  <dcterms:modified xsi:type="dcterms:W3CDTF">2026-03-10T16:35:59Z</dcterms:modified>
</cp:coreProperties>
</file>